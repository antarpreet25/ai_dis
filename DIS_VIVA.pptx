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4FD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" y="566928"/>
            <a:ext cx="146304" cy="146304"/>
          </a:xfrm>
          <a:prstGeom prst="rect">
            <a:avLst/>
          </a:prstGeom>
          <a:solidFill>
            <a:srgbClr val="F0B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566928"/>
            <a:ext cx="146304" cy="146304"/>
          </a:xfrm>
          <a:prstGeom prst="rect">
            <a:avLst/>
          </a:prstGeom>
          <a:solidFill>
            <a:srgbClr val="FF5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5303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EP4DIS  ·  MSc DISSERTATION  ·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8EEF5"/>
                </a:solidFill>
                <a:latin typeface="Segoe UI Semibold"/>
              </a:rPr>
              <a:t>A Multi-Layered Defence Framework for</a:t>
            </a:r>
          </a:p>
          <a:p>
            <a:pPr algn="l">
              <a:lnSpc>
                <a:spcPct val="98000"/>
              </a:lnSpc>
            </a:pPr>
            <a:r>
              <a:rPr sz="4200" b="1">
                <a:solidFill>
                  <a:srgbClr val="E8EEF5"/>
                </a:solidFill>
                <a:latin typeface="Segoe UI Semibold"/>
              </a:rPr>
              <a:t>Prompt Injection in Critical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Five independent defence layers around an LLM agent making predictive-maintenance decisions on a simulated power-grid substation — designed, built, broken, diagnosed, and re-evaluated under a leakage-checked protocol.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5"/>
                </a:solidFill>
                <a:latin typeface="Consolas"/>
              </a:rPr>
              <a:t>Antarpreet Singh Pahuja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989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6B8"/>
                </a:solidFill>
                <a:latin typeface="Consolas"/>
              </a:rPr>
              <a:t>Supervisor: Dr. Sourav Saha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989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6B8"/>
                </a:solidFill>
                <a:latin typeface="Consolas"/>
              </a:rPr>
              <a:t>MSc Artificial Intelligence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An LLM agent cannot tell an instruction from data it's supposed to just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9AA6B8"/>
                </a:solidFill>
                <a:latin typeface="Segoe UI"/>
              </a:rPr>
              <a:t>OWASP ranks prompt injection the #1 risk to LLM applications. In a chatbot, a successful attack leaks a conversation. In a critical-infrastructure agent reading sensor telemetry and recommending maintenance action, the same failure can trigger a physical action on real equipment.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181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CONSUMER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290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Bing Chat,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867912"/>
            <a:ext cx="309981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Greshake et al. show a hidden instruction in a retrieved web page hijacks the model. No architectural fix exists — the model reads instructions and data through the same channel.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97180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1181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INDUSTRY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GitHub MCP, May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67912"/>
            <a:ext cx="309981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 hidden instruction in a public issue tracker made a coding agent leak private repository content. Same mechanism, different surface.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97180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1181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THIS DISSERTATION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4290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Power-grid predictive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867912"/>
            <a:ext cx="309981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The agent's output can become a tool call — schedule_inspection, trip_breaker. The failure mode stops being informational.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02 · THE GAP IN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Three things the existing literature does not give you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57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C6A7E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101041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8EEF5"/>
                </a:solidFill>
                <a:latin typeface="Segoe UI"/>
              </a:rPr>
              <a:t>No benchmark </a:t>
            </a:r>
            <a:r>
              <a:rPr sz="1600" b="0">
                <a:solidFill>
                  <a:srgbClr val="9AA6B8"/>
                </a:solidFill>
                <a:latin typeface="Segoe UI"/>
              </a:rPr>
              <a:t>combines prompt injection with a critical-infrastructure / industrial-control threat model — the kind MITRE ATT&amp;CK for ICS catalogues.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57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C6A7E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101041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8EEF5"/>
                </a:solidFill>
                <a:latin typeface="Segoe UI"/>
              </a:rPr>
              <a:t>No defence inspects sensor values. </a:t>
            </a:r>
            <a:r>
              <a:rPr sz="1600" b="0">
                <a:solidFill>
                  <a:srgbClr val="9AA6B8"/>
                </a:solidFill>
                <a:latin typeface="Segoe UI"/>
              </a:rPr>
              <a:t>Every reviewed mechanism works on language. An attack that manipulates the numbers directly (Deng, Zhuang &amp; Liang, 2019) needs no injected text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457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C6A7E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1010411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8EEF5"/>
                </a:solidFill>
                <a:latin typeface="Segoe UI"/>
              </a:rPr>
              <a:t>No combined, leakage-checked evaluation. </a:t>
            </a:r>
            <a:r>
              <a:rPr sz="1600" b="0">
                <a:solidFill>
                  <a:srgbClr val="9AA6B8"/>
                </a:solidFill>
                <a:latin typeface="Segoe UI"/>
              </a:rPr>
              <a:t>Individual defences are reported in isolation, each against its own benchmark, under its own protocol.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FD1E8"/>
                </a:solidFill>
                <a:latin typeface="Segoe UI"/>
              </a:rPr>
              <a:t>This project builds one system that closes all three gaps at once — and then treats its own evaluation with the same suspicion it applies to the attacks.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03 · THE SYSTEM,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Three components. One question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323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SENSOR_GENERATOR.PY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Simulated substation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8211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Is the physics real? Temperature lags load through a first-order thermal response; dissolved gas accumulates under sustained heat. Not random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28600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4FD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323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FD1E8"/>
                </a:solidFill>
                <a:latin typeface="Consolas"/>
              </a:rPr>
              <a:t>DEFENSE/*.PY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Five-layer defence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8211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Is the input safe? External to the agent entirely — filtering, defensive tokens, embedding-drift detection, attack memory, then the agent, then output filtering and a human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28600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43230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GRID_AGENT.PY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4320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The LLM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8211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What should happen? Schema-constrained tool calls only — claude-sonnet-4-6, forced to a five-field structured assessment, never free text.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04 · THE X-RAY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E8EEF5"/>
                </a:solidFill>
                <a:latin typeface="Segoe UI Semibold"/>
              </a:rPr>
              <a:t>Every input passes through five layers, in this exact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1051560" cy="777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4FD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53512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Document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+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88036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953512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Filtering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pattern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730752"/>
            <a:ext cx="1143000" cy="256032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MAY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88036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953512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Defensive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79" y="3730752"/>
            <a:ext cx="1417320" cy="256032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0B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0B73C"/>
                </a:solidFill>
                <a:latin typeface="Consolas"/>
              </a:rPr>
              <a:t>NEVER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880360"/>
            <a:ext cx="1371600" cy="777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95351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ZEDD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embedding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6380" y="3730752"/>
            <a:ext cx="1143000" cy="256032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MAY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88036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953512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Attack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730752"/>
            <a:ext cx="1143000" cy="256032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MAY 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880360"/>
            <a:ext cx="1371600" cy="777240"/>
          </a:xfrm>
          <a:prstGeom prst="roundRect">
            <a:avLst>
              <a:gd name="adj" fmla="val 6000"/>
            </a:avLst>
          </a:prstGeom>
          <a:solidFill>
            <a:srgbClr val="162A30"/>
          </a:solidFill>
          <a:ln w="16510">
            <a:solidFill>
              <a:srgbClr val="4FD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953512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Agent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5"/>
                </a:solidFill>
                <a:latin typeface="Consolas"/>
              </a:rPr>
              <a:t>claude-sonnet-4-6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18220" y="3730752"/>
            <a:ext cx="1051560" cy="256032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NO BLOCK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4480" y="3268979"/>
            <a:ext cx="228600" cy="0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0400" y="3268979"/>
            <a:ext cx="228600" cy="0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3268979"/>
            <a:ext cx="228600" cy="0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0" y="3268979"/>
            <a:ext cx="228600" cy="0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3268979"/>
            <a:ext cx="228600" cy="0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41280" y="283464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286207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8EEF5"/>
                </a:solidFill>
                <a:latin typeface="Consolas"/>
              </a:rPr>
              <a:t>Output Filter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333756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3649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8EEF5"/>
                </a:solidFill>
                <a:latin typeface="Consolas"/>
              </a:rPr>
              <a:t>Human Loop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829800" y="3108960"/>
            <a:ext cx="411480" cy="160019"/>
          </a:xfrm>
          <a:prstGeom prst="line">
            <a:avLst/>
          </a:prstGeom>
          <a:ln w="15875">
            <a:solidFill>
              <a:srgbClr val="5C6A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1605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5F4D"/>
                </a:solidFill>
                <a:latin typeface="Consolas"/>
              </a:rPr>
              <a:t>blocked → never reaches the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343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B73C"/>
                </a:solidFill>
                <a:latin typeface="Consolas"/>
              </a:rPr>
              <a:t>only Human Loop stands between a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B73C"/>
                </a:solidFill>
                <a:latin typeface="Consolas"/>
              </a:rPr>
              <a:t>manipulated assessment and a tool call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B73C"/>
                </a:solidFill>
                <a:latin typeface="Consolas"/>
              </a:rPr>
              <a:t>reaching equipment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6B8"/>
                </a:solidFill>
                <a:latin typeface="Segoe UI"/>
              </a:rPr>
              <a:t>Filtering, ZEDD, Attack Memory and Output Filter can each block outright. Defensive Tokens always runs and never blocks — its contribution is measured in token cost, not recall. The Agent never blocks; Human Loop withholds execution, it doesn't reject the assessment.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05 · LAYER DETAIL — FILTERING &amp; DEFENSIVE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078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5F4D"/>
                </a:solidFill>
                <a:latin typeface="Consolas"/>
              </a:rPr>
              <a:t>LAYER 1 · MAY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1168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1"/>
            <a:ext cx="4855464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Screens input and output for override language, disguised instructions, escalation phrasing, and encoding evasion — regex and heuristic pattern matching. Cheap: 0.2ms mean latency. Catches the loud, explicit attacks: "ignore all previous instructions", base64-shaped character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892040"/>
            <a:ext cx="274320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RECALL 0.935 ON EXPECTED SLICE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0B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0078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0B73C"/>
                </a:solidFill>
                <a:latin typeface="Consolas"/>
              </a:rPr>
              <a:t>LAYER 2 · NEVER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1168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Defensive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50591"/>
            <a:ext cx="4855464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Fixed, hand-authored delimiter tokens wrapping the input, implementing the conceptual mechanism of Chen et al. (2025) — but with no gradient access to Claude through a hosted API, so no formal security guarantee is inherited. Always runs. Cost is reported in tokens, not catches.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4892040"/>
            <a:ext cx="274320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0B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0B73C"/>
                </a:solidFill>
                <a:latin typeface="Consolas"/>
              </a:rPr>
              <a:t>HONEST LIMITATION, NOT HIDDEN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05 · LAYER DETAIL — ZEDD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The layer that actually carries the hard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Zero-Shot Embedding Drift Detection (Sekar et al., 2026) compares an input's embedding against a baseline of normal operational language. Three modes were built and compared — only one made the cut.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0266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DOCUMENT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375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Whole-document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776472"/>
            <a:ext cx="309981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 single injected sentence barely moves a long document's embedding. Recall 0.349 on the samples ZEDD alone is expected to catch. Rejected as the primary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880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4FD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266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FD1E8"/>
                </a:solidFill>
                <a:latin typeface="Consolas"/>
              </a:rPr>
              <a:t>SENTENCE MODE — CHOSEN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Worst single sentence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76472"/>
            <a:ext cx="309981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Scores every sentence, flags on the worst one — no dilution. Recall 0.804 on that same per-layer slice.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880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0266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DUAL-ENCODER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3375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Domain + security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776472"/>
            <a:ext cx="309981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0.8 domain / 0.2 security weighting, swept and calibrated — the security-only signal alone caught just 7% of attacks.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05 · LAYER DETAIL — ATTACK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The layer that taught the biggest lesson.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6654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5F4D"/>
                </a:solidFill>
                <a:latin typeface="Consolas"/>
              </a:rPr>
              <a:t>WHAT WENT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Whole-document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16352"/>
            <a:ext cx="48554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 confirmed attack and its clean counterpart embed at ~0.98 cosine similarity — they differ by one line. Storing the whole document meant any benign report sharing that template matched a stored "attack." Result: 21 of 65 benign documents wrongly blocked.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6654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ECF76"/>
                </a:solidFill>
                <a:latin typeface="Consolas"/>
              </a:rPr>
              <a:t>THE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37744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Payload-only, gated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16352"/>
            <a:ext cx="48554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Store only the isolated injected line — never the surrounding document — and only after another layer has already confirmed the block. Removes the poisoning path entirely. Now catches 16.7% of paraphrased repeats of an already-seen attack.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05 · LAYER DETAIL — AGENT &amp;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09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The one layer that reads the numbers, not the 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6654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Physical-consistency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16352"/>
            <a:ext cx="48554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The system prompt instructs the agent to check readings against each other, not just against a threshold: high load with a flat temperature, or gas readings that never move, is tampering, not health. This is the only defence against an attack with no injected language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257800"/>
            <a:ext cx="420624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12/12 INCONSISTENT WINDOWS FLAGGED · 0/6 FALSE ALARMS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06654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37744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Human-in-the-loop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816352"/>
            <a:ext cx="48554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Any high-risk tool call — trip_breaker, emergency_shutdown — is withheld for operator approval regardless of what any upstream layer decided. The last line, not the first.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06 · THE SIMULATED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Physics, not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sensor_generator.py models the transformer's physical state at every timestep and derives readings from it. Temperature lags load through a first-order thermal response; dissolved gas accumulates under sustained heat rather than jumping randomly.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9125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E8"/>
                </a:solidFill>
                <a:latin typeface="Segoe UI Semibold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336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897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normal → developing fault → arcing → FDI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0632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19125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E8"/>
                </a:solidFill>
                <a:latin typeface="Segoe UI Semibol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2336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SENSORS MODELLED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897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voltage · load · temp ·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0632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19125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E8"/>
                </a:solidFill>
                <a:latin typeface="Segoe UI Semibold"/>
              </a:rPr>
              <a:t>FDI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336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FALSE-DATA-INJECTION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97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plausible alone, correlation violated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063240"/>
            <a:ext cx="251460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19125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E8"/>
                </a:solidFill>
                <a:latin typeface="Segoe UI Semibold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2336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READING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4897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rolling context sent to agent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07 · METHODOLOGY — WHY THE PROTOCOL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11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8EEF5"/>
                </a:solidFill>
                <a:latin typeface="Segoe UI Semibold"/>
              </a:rPr>
              <a:t>A model that has already met its exam questions looks smarter than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9AA6B8"/>
                </a:solidFill>
                <a:latin typeface="Segoe UI"/>
              </a:rPr>
              <a:t>An earlier protocol calibrated thresholds on the same pool used to fine-tune the detector, then reported performance from that pool — the classic contamination failure (Golchin &amp; Surdeanu, 2023), reproduced in a calibration setting instead of a pretraining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369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Consolas"/>
              </a:rPr>
              <a:t>90210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FINE-TUNING SEED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108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2369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Consolas"/>
              </a:rPr>
              <a:t>70123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CALIBRATION SEED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108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369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Consolas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EVALUATION SEED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108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323697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Consolas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005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SCALED-BENCHMARK 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FD1E8"/>
                </a:solidFill>
                <a:latin typeface="Segoe UI"/>
              </a:rPr>
              <a:t>Four disjoint pools. No parameter is ever calibrated on the data used to report the final result.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08 · THE DIAGNOSTIC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8EEF5"/>
                </a:solidFill>
                <a:latin typeface="Segoe UI Semibold"/>
              </a:rPr>
              <a:t>Three bugs found by evaluating the evaluation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02152" cy="32461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550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One threshold, three scales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09981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 single raw threshold calibrated on document mode was applied to sentence and dual-encoder mode too. Near-total false positives resulted.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1627632"/>
            <a:ext cx="822960" cy="2743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Bug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16052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ECF76"/>
                </a:solidFill>
                <a:latin typeface="Consolas"/>
              </a:rPr>
              <a:t>Fix: per-mode GMM calibration + validity check, FPR-target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08760"/>
            <a:ext cx="3502152" cy="32461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550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Attack memory poisoning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309981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Whole-document storage let one false positive on a benign template poison every other document sharing it. 21 of 65 benign docs wrongly blocked.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627632"/>
            <a:ext cx="822960" cy="2743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Bug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ECF76"/>
                </a:solidFill>
                <a:latin typeface="Consolas"/>
              </a:rPr>
              <a:t>Fix: store the isolated payload only, gated on a confirmed block.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508760"/>
            <a:ext cx="3502152" cy="32461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6550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19659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Calibration/evaluation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404872"/>
            <a:ext cx="309981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Thresholds calibrated on the same pool used to fine-tune, then scored against — a number that looks strong because it already met the test.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1627632"/>
            <a:ext cx="822960" cy="27432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5F4D"/>
                </a:solidFill>
                <a:latin typeface="Consolas"/>
              </a:rPr>
              <a:t>Bug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16052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ECF76"/>
                </a:solidFill>
                <a:latin typeface="Consolas"/>
              </a:rPr>
              <a:t>Fix: four disjoint seeds across fine-tune / calibrate / evaluate /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834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E8EEF5"/>
                </a:solidFill>
                <a:latin typeface="Segoe UI"/>
              </a:rPr>
              <a:t>The corrected numbers on the next slide are LOWER than the buggy ones were. That's the point — a lower, trustworthy result is the stronger claim.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09 · HEADLINE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8EEF5"/>
                </a:solidFill>
                <a:latin typeface="Segoe UI Semibold"/>
              </a:rPr>
              <a:t>2,128-sample benchmark, sentence mode, disjoint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0253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ECF76"/>
                </a:solidFill>
                <a:latin typeface="Segoe UI Semibold"/>
              </a:rPr>
              <a:t>0.857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62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18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1,582 / 1,847 attacks caught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19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0253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ECF76"/>
                </a:solidFill>
                <a:latin typeface="Segoe UI Semibold"/>
              </a:rPr>
              <a:t>1.07%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62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FALSE-POSITIVE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18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3 FP of 281 benign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874519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0253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E8"/>
                </a:solidFill>
                <a:latin typeface="Segoe UI Semibold"/>
              </a:rPr>
              <a:t>0.922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62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18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precision 0.998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874519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002536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0B73C"/>
                </a:solidFill>
                <a:latin typeface="Segoe UI Semibold"/>
              </a:rPr>
              <a:t>14.3%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86207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ATTACK SUCCESS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118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A7E"/>
                </a:solidFill>
                <a:latin typeface="Consolas"/>
              </a:rPr>
              <a:t>lower is better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84962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16052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Held under 8×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599431"/>
            <a:ext cx="48554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265 samples → 2,128 samples: F1 0.917 → 0.922, false-positive rate 3.08% → 1.07%. Performance did not degrade as real-sourced attack text and a larger benign set replaced the original synthetic-only construction.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0332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84962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16052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Where it still struggles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599431"/>
            <a:ext cx="48554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Recall by difficulty: easy 0.98, medium 0.72, hard 0.82 (sentence) vs 0.98 / 0.53 / 0.34 (document). The dilution problem, quantified.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10 · BEYOND THE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8EEF5"/>
                </a:solidFill>
                <a:latin typeface="Segoe UI Semibold"/>
              </a:rPr>
              <a:t>Four studies the main benchmark can't answer on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14600" cy="4023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12264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MITRE ATT&amp;CK FOR 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17 / 20 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62072"/>
            <a:ext cx="2112264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20 attacks against real ICS techniques, domain-plausible phrasing. 1 of 20 succeeded end-to-end.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65960"/>
            <a:ext cx="2514600" cy="4023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112264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PHYSICAL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42316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12 / 12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862072"/>
            <a:ext cx="2112264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0 / 6 false alarms on genuine faults. Tested independently of all five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965960"/>
            <a:ext cx="2514600" cy="4023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112264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REAL OPERATIONAL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42316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6.4% FPR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862072"/>
            <a:ext cx="2112264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78 verbatim technical &amp; historical passages, never seen in fine-tuning.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965960"/>
            <a:ext cx="2514600" cy="4023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3688" y="2112264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RESOURCE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423160"/>
            <a:ext cx="2112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67ms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2862072"/>
            <a:ext cx="2112264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659MB peak memory, zero external network calls in the detection path.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11 · WHY IT MATTERS — RAW VS DEFENDED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What happens if none of this exists?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AA6B8"/>
                </a:solidFill>
                <a:latin typeface="Segoe UI"/>
              </a:rPr>
              <a:t>152 attacks, same inputs, sent to the raw agent and the fully defended pipeline against a developing-fault scenario, using real API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FF5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4855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F4D"/>
                </a:solidFill>
                <a:latin typeface="Consolas"/>
              </a:rPr>
              <a:t>RAW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4612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5F4D"/>
                </a:solidFill>
                <a:latin typeface="Segoe UI Semibold"/>
              </a:rPr>
              <a:t>89.5%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251960"/>
            <a:ext cx="48554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6B8"/>
                </a:solidFill>
                <a:latin typeface="Segoe UI"/>
              </a:rPr>
              <a:t>ungated tool calls — 136 of 152 attacks reached execution with no defence in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4320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651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926080"/>
            <a:ext cx="4855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ECF76"/>
                </a:solidFill>
                <a:latin typeface="Consolas"/>
              </a:rPr>
              <a:t>DEFENDED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24612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3ECF76"/>
                </a:solidFill>
                <a:latin typeface="Segoe UI Semibold"/>
              </a:rPr>
              <a:t>84.9%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251960"/>
            <a:ext cx="48554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6B8"/>
                </a:solidFill>
                <a:latin typeface="Segoe UI"/>
              </a:rPr>
              <a:t>blocked before or immediately after the agent — 100 by ZEDD, 19 filtering, 7 attack memory, 3 output filtering.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12 · 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What this system does not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C6A7E"/>
                </a:solidFill>
                <a:latin typeface="Consola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101041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E8EEF5"/>
                </a:solidFill>
                <a:latin typeface="Segoe UI"/>
              </a:rPr>
              <a:t>Defensive tokens' "strict mode" is unreachable by construction </a:t>
            </a:r>
            <a:r>
              <a:rPr sz="1550" b="0">
                <a:solidFill>
                  <a:srgbClr val="9AA6B8"/>
                </a:solidFill>
                <a:latin typeface="Segoe UI"/>
              </a:rPr>
              <a:t>— the one call site hardcodes soft mode. Documented, not hidden.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C6A7E"/>
                </a:solidFill>
                <a:latin typeface="Consola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101041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E8EEF5"/>
                </a:solidFill>
                <a:latin typeface="Segoe UI"/>
              </a:rPr>
              <a:t>Sensor data has no causal effect on detection </a:t>
            </a:r>
            <a:r>
              <a:rPr sz="1550" b="0">
                <a:solidFill>
                  <a:srgbClr val="9AA6B8"/>
                </a:solidFill>
                <a:latin typeface="Segoe UI"/>
              </a:rPr>
              <a:t>outside the physical-consistency study — the four content-analysis layers never look at a sensor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C6A7E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101041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E8EEF5"/>
                </a:solidFill>
                <a:latin typeface="Segoe UI"/>
              </a:rPr>
              <a:t>Document mode's real decision rule is a per-category threshold, </a:t>
            </a:r>
            <a:r>
              <a:rPr sz="1550" b="0">
                <a:solidFill>
                  <a:srgbClr val="9AA6B8"/>
                </a:solidFill>
                <a:latin typeface="Segoe UI"/>
              </a:rPr>
              <a:t>not the single global cutoff its own calibration numbers imply — found and disclosed, not smoothed 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457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C6A7E"/>
                </a:solidFill>
                <a:latin typeface="Consola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17720"/>
            <a:ext cx="101041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E8EEF5"/>
                </a:solidFill>
                <a:latin typeface="Segoe UI"/>
              </a:rPr>
              <a:t>Usability validation with real operators was deferred </a:t>
            </a:r>
            <a:r>
              <a:rPr sz="1550" b="0">
                <a:solidFill>
                  <a:srgbClr val="9AA6B8"/>
                </a:solidFill>
                <a:latin typeface="Segoe UI"/>
              </a:rPr>
              <a:t>— named explicitly as future work, not quietly dropped.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13 · OBJECTIVES REVISITED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Six objectives from the approved proposal.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4767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Examine direct / indirect / multimodal / escalation forms and identify critical-infrastructure vulnerabilities.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9191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60903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Design a multi-layered architecture combining detection, test-time protection, and human oversight.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924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0B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0B73C"/>
                </a:solidFill>
                <a:latin typeface="Consolas"/>
              </a:rPr>
              <a:t>REVISED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741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Implement in Python — proposed LangChain + Hugging Face; built on the hosted Anthropic API once local generation proved impractical at this evaluation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05656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8736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Simulate within a realistic power-grid predictive-maintenance scenario.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18888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F0B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0B73C"/>
                </a:solidFill>
                <a:latin typeface="Consolas"/>
              </a:rPr>
              <a:t>REVISED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6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Evaluate against synthetic attack datasets — scaled to a hybrid, majority real-sourced benchmark for credibility.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3EC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ECF76"/>
                </a:solidFill>
                <a:latin typeface="Consolas"/>
              </a:rPr>
              <a:t>MET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1383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5"/>
                </a:solidFill>
                <a:latin typeface="Segoe UI"/>
              </a:rPr>
              <a:t>Explainable Streamlit dashboard visualising defences, blocked prompts, and system status.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14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Three windows, in this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408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Streamlit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9067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Live simulation gauges, then the pipeline tester — real filtering / ZEDD / RAG-memory decisions, with the a priori expected outcome shown alongside the actual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9456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408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Netlify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9067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The operator-facing view — scenario walkthroughs, pipeline run history, expected-to-block indicator on every preset.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9456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34086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51760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VS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090672"/>
            <a:ext cx="3099816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defense/ for the layer logic, data/results/*.json for the numbers on the slides you just saw — every figure traces to a file, not a claim.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15 · WHAT'S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19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E8EEF5"/>
                </a:solidFill>
                <a:latin typeface="Segoe UI Semibold"/>
              </a:rPr>
              <a:t>Between today and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4086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90672"/>
            <a:ext cx="485546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All five chapters drafted and cross-checked against the codebase and result files. Front matter, a final consistency pass across cross-references, and formatting remain.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340864"/>
            <a:ext cx="4855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A7E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51760"/>
            <a:ext cx="4855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5"/>
                </a:solidFill>
                <a:latin typeface="Segoe UI Semibold"/>
              </a:rPr>
              <a:t>Future work, not this dissertation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090672"/>
            <a:ext cx="485546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20" b="0">
                <a:solidFill>
                  <a:srgbClr val="9AA6B8"/>
                </a:solidFill>
                <a:latin typeface="Segoe UI"/>
              </a:rPr>
              <a:t>Operator usability validation (deferred per the risk register), extension beyond the single developing-fault scenario, and a from-scratch attack-memory regeneration to close the one dataset/generator desync found and disclosed this term.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3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E8"/>
                </a:solidFill>
                <a:latin typeface="Consolas"/>
              </a:rPr>
              <a:t>16 ·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840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C6A7E"/>
                </a:solidFill>
                <a:latin typeface="Consolas"/>
              </a:rPr>
              <a:t>20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1091153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515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8EEF5"/>
                </a:solidFill>
                <a:latin typeface="Segoe UI Semibold"/>
              </a:rPr>
              <a:t>A working defence, evaluated by trying to break its own evaluation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9AA6B8"/>
                </a:solidFill>
                <a:latin typeface="Segoe UI"/>
              </a:rPr>
              <a:t>Five layers, three real bugs found and fixed before a single headline number was trusted, four independent domain studies beyond the benchmark, and every limitation named rather than smoothed 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4553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ECF76"/>
                </a:solidFill>
                <a:latin typeface="Segoe UI Semibold"/>
              </a:rPr>
              <a:t>0.857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050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RECALL, HELD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01752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14553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ECF76"/>
                </a:solidFill>
                <a:latin typeface="Segoe UI Semibold"/>
              </a:rPr>
              <a:t>1.07%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0050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FALSE-POSITIVE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1752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3970">
            <a:solidFill>
              <a:srgbClr val="26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314553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FD1E8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0050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AA6B8"/>
                </a:solidFill>
                <a:latin typeface="Consolas"/>
              </a:rPr>
              <a:t>DIAGNOSED &amp; FIXED DEFECTS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EF5"/>
                </a:solidFill>
                <a:latin typeface="Segoe UI Semibold"/>
              </a:rPr>
              <a:t>Requesting approval to proceed to final submission.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473952"/>
            <a:ext cx="12191695" cy="0"/>
          </a:xfrm>
          <a:prstGeom prst="line">
            <a:avLst/>
          </a:prstGeom>
          <a:ln w="9525">
            <a:solidFill>
              <a:srgbClr val="26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SDC · FINAL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1052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AA6B8"/>
                </a:solidFill>
                <a:latin typeface="Consola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